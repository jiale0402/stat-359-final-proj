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GRPO Reward Ablation for Arithmetic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Final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1097280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371600"/>
            <a:ext cx="146304" cy="14630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61872"/>
            <a:ext cx="10195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b="1" sz="2900">
                <a:solidFill>
                  <a:srgbClr val="132133"/>
                </a:solidFill>
              </a:defRPr>
            </a:pPr>
            <a:r>
              <a:t>Which reward design improves arithmetic accuracy most reliably?</a:t>
            </a:r>
          </a:p>
          <a:p>
            <a:pPr>
              <a:defRPr sz="1700">
                <a:solidFill>
                  <a:srgbClr val="556377"/>
                </a:solidFill>
              </a:defRPr>
            </a:pPr>
            <a:r>
              <a:t>Primary metric: exact-match arithmetic accuracy.</a:t>
            </a:r>
          </a:p>
          <a:p>
            <a:pPr>
              <a:defRPr sz="1600">
                <a:solidFill>
                  <a:srgbClr val="556377"/>
                </a:solidFill>
              </a:defRPr>
            </a:pPr>
            <a:r>
              <a:t>Shared step-0 baseline across runs: 0.1406.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3456432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29584"/>
            <a:ext cx="309067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132133"/>
                </a:solidFill>
              </a:defRPr>
            </a:pPr>
            <a:r>
              <a:t>What We Compare</a:t>
            </a:r>
          </a:p>
          <a:p>
            <a:pPr>
              <a:spcAft>
                <a:spcPts val="400"/>
              </a:spcAft>
              <a:defRPr sz="1400">
                <a:solidFill>
                  <a:srgbClr val="132133"/>
                </a:solidFill>
              </a:defRPr>
            </a:pPr>
            <a:r>
              <a:t>H1: binary only</a:t>
            </a:r>
          </a:p>
          <a:p>
            <a:pPr>
              <a:spcAft>
                <a:spcPts val="400"/>
              </a:spcAft>
              <a:defRPr sz="1400">
                <a:solidFill>
                  <a:srgbClr val="132133"/>
                </a:solidFill>
              </a:defRPr>
            </a:pPr>
            <a:r>
              <a:t>H2: binary + process/format</a:t>
            </a:r>
          </a:p>
          <a:p>
            <a:pPr>
              <a:spcAft>
                <a:spcPts val="400"/>
              </a:spcAft>
              <a:defRPr sz="1400">
                <a:solidFill>
                  <a:srgbClr val="132133"/>
                </a:solidFill>
              </a:defRPr>
            </a:pPr>
            <a:r>
              <a:t>H3: binary + distance reward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3383280"/>
            <a:ext cx="3456432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3529584"/>
            <a:ext cx="309067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132133"/>
                </a:solidFill>
              </a:defRPr>
            </a:pPr>
            <a:r>
              <a:t>What Stays Fixed</a:t>
            </a:r>
          </a:p>
          <a:p>
            <a:pPr>
              <a:spcAft>
                <a:spcPts val="400"/>
              </a:spcAft>
              <a:defRPr sz="1400">
                <a:solidFill>
                  <a:srgbClr val="132133"/>
                </a:solidFill>
              </a:defRPr>
            </a:pPr>
            <a:r>
              <a:t>Same SFT checkpoint</a:t>
            </a:r>
          </a:p>
          <a:p>
            <a:pPr>
              <a:spcAft>
                <a:spcPts val="400"/>
              </a:spcAft>
              <a:defRPr sz="1400">
                <a:solidFill>
                  <a:srgbClr val="132133"/>
                </a:solidFill>
              </a:defRPr>
            </a:pPr>
            <a:r>
              <a:t>Same tokenizer + verifier</a:t>
            </a:r>
          </a:p>
          <a:p>
            <a:pPr>
              <a:spcAft>
                <a:spcPts val="400"/>
              </a:spcAft>
              <a:defRPr sz="1400">
                <a:solidFill>
                  <a:srgbClr val="132133"/>
                </a:solidFill>
              </a:defRPr>
            </a:pPr>
            <a:r>
              <a:t>Same decode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3383280"/>
            <a:ext cx="3456432" cy="2606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3529584"/>
            <a:ext cx="3090672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132133"/>
                </a:solidFill>
              </a:defRPr>
            </a:pPr>
            <a:r>
              <a:t>Target Outcome</a:t>
            </a:r>
          </a:p>
          <a:p>
            <a:pPr>
              <a:spcAft>
                <a:spcPts val="400"/>
              </a:spcAft>
              <a:defRPr sz="1400">
                <a:solidFill>
                  <a:srgbClr val="132133"/>
                </a:solidFill>
              </a:defRPr>
            </a:pPr>
            <a:r>
              <a:t>Faster early learning</a:t>
            </a:r>
          </a:p>
          <a:p>
            <a:pPr>
              <a:spcAft>
                <a:spcPts val="400"/>
              </a:spcAft>
              <a:defRPr sz="1400">
                <a:solidFill>
                  <a:srgbClr val="132133"/>
                </a:solidFill>
              </a:defRPr>
            </a:pPr>
            <a:r>
              <a:t>Higher late-stage accuracy</a:t>
            </a:r>
          </a:p>
          <a:p>
            <a:pPr>
              <a:spcAft>
                <a:spcPts val="400"/>
              </a:spcAft>
              <a:defRPr sz="1400">
                <a:solidFill>
                  <a:srgbClr val="132133"/>
                </a:solidFill>
              </a:defRPr>
            </a:pPr>
            <a:r>
              <a:t>No proxy-metric drift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Experiment Setup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1097280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10607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400">
                <a:solidFill>
                  <a:srgbClr val="132133"/>
                </a:solidFill>
              </a:defRPr>
            </a:pPr>
            <a:r>
              <a:t>Controlled Comparison</a:t>
            </a:r>
          </a:p>
          <a:p>
            <a:pPr>
              <a:spcAft>
                <a:spcPts val="400"/>
              </a:spcAft>
              <a:defRPr sz="1600">
                <a:solidFill>
                  <a:srgbClr val="132133"/>
                </a:solidFill>
              </a:defRPr>
            </a:pPr>
            <a:r>
              <a:t>Only the reward formula changes across H1/H2/H3. Architecture, data, and decoding remain fixed.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5394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60904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100">
                <a:solidFill>
                  <a:srgbClr val="132133"/>
                </a:solidFill>
              </a:defRPr>
            </a:pPr>
            <a:r>
              <a:t>Start Point</a:t>
            </a:r>
          </a:p>
          <a:p>
            <a:pPr>
              <a:spcAft>
                <a:spcPts val="400"/>
              </a:spcAft>
              <a:defRPr sz="1600">
                <a:solidFill>
                  <a:srgbClr val="132133"/>
                </a:solidFill>
              </a:defRPr>
            </a:pPr>
            <a:r>
              <a:t>Shared SFT checkpoint</a:t>
            </a:r>
          </a:p>
          <a:p>
            <a:pPr>
              <a:spcAft>
                <a:spcPts val="400"/>
              </a:spcAft>
              <a:defRPr sz="1600">
                <a:solidFill>
                  <a:srgbClr val="132133"/>
                </a:solidFill>
              </a:defRPr>
            </a:pPr>
            <a:r>
              <a:t>Shared tokenizer and verifier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514600"/>
            <a:ext cx="5394960" cy="1737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60904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100">
                <a:solidFill>
                  <a:srgbClr val="132133"/>
                </a:solidFill>
              </a:defRPr>
            </a:pPr>
            <a:r>
              <a:t>Prompt Pool</a:t>
            </a:r>
          </a:p>
          <a:p>
            <a:pPr>
              <a:spcAft>
                <a:spcPts val="400"/>
              </a:spcAft>
              <a:defRPr sz="1600">
                <a:solidFill>
                  <a:srgbClr val="132133"/>
                </a:solidFill>
              </a:defRPr>
            </a:pPr>
            <a:r>
              <a:t>50,000 generated arithmetic prompts</a:t>
            </a:r>
          </a:p>
          <a:p>
            <a:pPr>
              <a:spcAft>
                <a:spcPts val="400"/>
              </a:spcAft>
              <a:defRPr sz="1600">
                <a:solidFill>
                  <a:srgbClr val="132133"/>
                </a:solidFill>
              </a:defRPr>
            </a:pPr>
            <a:r>
              <a:t>Depth &lt;= 5, numbers 1..20, invalid filtered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34840"/>
            <a:ext cx="539496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81144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100">
                <a:solidFill>
                  <a:srgbClr val="132133"/>
                </a:solidFill>
              </a:defRPr>
            </a:pPr>
            <a:r>
              <a:t>Decode + Evaluation</a:t>
            </a:r>
          </a:p>
          <a:p>
            <a:pPr>
              <a:spcAft>
                <a:spcPts val="400"/>
              </a:spcAft>
              <a:defRPr sz="1500">
                <a:solidFill>
                  <a:srgbClr val="132133"/>
                </a:solidFill>
              </a:defRPr>
            </a:pPr>
            <a:r>
              <a:t>max length 256, temperature 1.0</a:t>
            </a:r>
          </a:p>
          <a:p>
            <a:pPr>
              <a:spcAft>
                <a:spcPts val="400"/>
              </a:spcAft>
              <a:defRPr sz="1500">
                <a:solidFill>
                  <a:srgbClr val="132133"/>
                </a:solidFill>
              </a:defRPr>
            </a:pPr>
            <a:r>
              <a:t>top-k 50, top-p 0.95</a:t>
            </a:r>
          </a:p>
          <a:p>
            <a:pPr>
              <a:spcAft>
                <a:spcPts val="400"/>
              </a:spcAft>
              <a:defRPr sz="1500">
                <a:solidFill>
                  <a:srgbClr val="132133"/>
                </a:solidFill>
              </a:defRPr>
            </a:pPr>
            <a:r>
              <a:t>Metric: exact-match arithmetic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34840"/>
            <a:ext cx="5394960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581144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100">
                <a:solidFill>
                  <a:srgbClr val="132133"/>
                </a:solidFill>
              </a:defRPr>
            </a:pPr>
            <a:r>
              <a:t>Only Variable</a:t>
            </a:r>
          </a:p>
          <a:p>
            <a:pPr>
              <a:spcAft>
                <a:spcPts val="400"/>
              </a:spcAft>
              <a:defRPr sz="1500">
                <a:solidFill>
                  <a:srgbClr val="132133"/>
                </a:solidFill>
              </a:defRPr>
            </a:pPr>
            <a:r>
              <a:t>H1: binary reward</a:t>
            </a:r>
          </a:p>
          <a:p>
            <a:pPr>
              <a:spcAft>
                <a:spcPts val="400"/>
              </a:spcAft>
              <a:defRPr sz="1500">
                <a:solidFill>
                  <a:srgbClr val="132133"/>
                </a:solidFill>
              </a:defRPr>
            </a:pPr>
            <a:r>
              <a:t>H2: add process + format reward</a:t>
            </a:r>
          </a:p>
          <a:p>
            <a:pPr>
              <a:spcAft>
                <a:spcPts val="400"/>
              </a:spcAft>
              <a:defRPr sz="1500">
                <a:solidFill>
                  <a:srgbClr val="132133"/>
                </a:solidFill>
              </a:defRPr>
            </a:pPr>
            <a:r>
              <a:t>H3: add distance reward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Why Reward Design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03520" cy="4526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43584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400">
                <a:solidFill>
                  <a:srgbClr val="132133"/>
                </a:solidFill>
              </a:defRPr>
            </a:pPr>
            <a:r>
              <a:t>Binary Reward (H1)</a:t>
            </a:r>
          </a:p>
          <a:p>
            <a:pPr>
              <a:spcAft>
                <a:spcPts val="400"/>
              </a:spcAft>
              <a:defRPr sz="1800">
                <a:solidFill>
                  <a:srgbClr val="132133"/>
                </a:solidFill>
              </a:defRPr>
            </a:pPr>
            <a:r>
              <a:t>+ Perfect alignment with correctness</a:t>
            </a:r>
          </a:p>
          <a:p>
            <a:pPr>
              <a:spcAft>
                <a:spcPts val="400"/>
              </a:spcAft>
              <a:defRPr sz="1800">
                <a:solidFill>
                  <a:srgbClr val="132133"/>
                </a:solidFill>
              </a:defRPr>
            </a:pPr>
            <a:r>
              <a:t>- Sparse signal when output is wrong</a:t>
            </a:r>
          </a:p>
          <a:p>
            <a:pPr>
              <a:spcAft>
                <a:spcPts val="400"/>
              </a:spcAft>
              <a:defRPr sz="1800">
                <a:solidFill>
                  <a:srgbClr val="132133"/>
                </a:solidFill>
              </a:defRPr>
            </a:pPr>
            <a:r>
              <a:t>- Can slow early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03520" cy="4526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43584"/>
            <a:ext cx="49377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400">
                <a:solidFill>
                  <a:srgbClr val="132133"/>
                </a:solidFill>
              </a:defRPr>
            </a:pPr>
            <a:r>
              <a:t>Auxiliary Rewards (H2/H3)</a:t>
            </a:r>
          </a:p>
          <a:p>
            <a:pPr>
              <a:spcAft>
                <a:spcPts val="400"/>
              </a:spcAft>
              <a:defRPr sz="1800">
                <a:solidFill>
                  <a:srgbClr val="132133"/>
                </a:solidFill>
              </a:defRPr>
            </a:pPr>
            <a:r>
              <a:t>+ Denser feedback during training</a:t>
            </a:r>
          </a:p>
          <a:p>
            <a:pPr>
              <a:spcAft>
                <a:spcPts val="400"/>
              </a:spcAft>
              <a:defRPr sz="1800">
                <a:solidFill>
                  <a:srgbClr val="132133"/>
                </a:solidFill>
              </a:defRPr>
            </a:pPr>
            <a:r>
              <a:t>+ Potentially faster optimization</a:t>
            </a:r>
          </a:p>
          <a:p>
            <a:pPr>
              <a:spcAft>
                <a:spcPts val="400"/>
              </a:spcAft>
              <a:defRPr sz="1800">
                <a:solidFill>
                  <a:srgbClr val="132133"/>
                </a:solidFill>
              </a:defRPr>
            </a:pPr>
            <a:r>
              <a:t>- Risk: optimize proxy, not correctness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715000"/>
            <a:ext cx="10972800" cy="822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861304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200">
                <a:solidFill>
                  <a:srgbClr val="132133"/>
                </a:solidFill>
              </a:defRPr>
            </a:pPr>
            <a:r>
              <a:t>Ablation Question</a:t>
            </a:r>
          </a:p>
          <a:p>
            <a:pPr>
              <a:spcAft>
                <a:spcPts val="400"/>
              </a:spcAft>
              <a:defRPr sz="1600">
                <a:solidFill>
                  <a:srgbClr val="132133"/>
                </a:solidFill>
              </a:defRPr>
            </a:pPr>
            <a:r>
              <a:t>Can denser rewards improve learning speed without sacrificing exact arithmetic accuracy?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How We Built the SFT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Data +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10972800" cy="5440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261872"/>
            <a:ext cx="10533888" cy="511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b="1" sz="2400">
                <a:solidFill>
                  <a:srgbClr val="132133"/>
                </a:solidFill>
              </a:defRPr>
            </a:pPr>
            <a:r>
              <a:t>Dataset and Procedure</a:t>
            </a:r>
          </a:p>
          <a:p>
            <a:pPr>
              <a:spcAft>
                <a:spcPts val="500"/>
              </a:spcAft>
              <a:defRPr sz="2100">
                <a:solidFill>
                  <a:srgbClr val="132133"/>
                </a:solidFill>
              </a:defRPr>
            </a:pPr>
            <a:r>
              <a:t>• Foundational pretraining data: 200,000 synthetic arithmetic samples.</a:t>
            </a:r>
          </a:p>
          <a:p>
            <a:pPr>
              <a:spcAft>
                <a:spcPts val="500"/>
              </a:spcAft>
              <a:defRPr sz="2100">
                <a:solidFill>
                  <a:srgbClr val="132133"/>
                </a:solidFill>
              </a:defRPr>
            </a:pPr>
            <a:r>
              <a:t>• SFT data: 4,096 instruction samples in data/instruction_corpus_sft_4k.txt.</a:t>
            </a:r>
          </a:p>
          <a:p>
            <a:pPr>
              <a:spcAft>
                <a:spcPts val="500"/>
              </a:spcAft>
              <a:defRPr sz="2100">
                <a:solidFill>
                  <a:srgbClr val="132133"/>
                </a:solidFill>
              </a:defRPr>
            </a:pPr>
            <a:r>
              <a:t>• SFT split: 3,686 train + 410 val (90/10 split from dataloader).</a:t>
            </a:r>
          </a:p>
          <a:p>
            <a:pPr>
              <a:spcAft>
                <a:spcPts val="500"/>
              </a:spcAft>
              <a:defRPr sz="2100">
                <a:solidFill>
                  <a:srgbClr val="132133"/>
                </a:solidFill>
              </a:defRPr>
            </a:pPr>
            <a:r>
              <a:t>• SFT training config: 1 epoch, batch size 64, learning rate 5e-05, 58 optimizer steps.</a:t>
            </a:r>
          </a:p>
          <a:p>
            <a:pPr>
              <a:spcAft>
                <a:spcPts val="500"/>
              </a:spcAft>
              <a:defRPr sz="2100">
                <a:solidFill>
                  <a:srgbClr val="132133"/>
                </a:solidFill>
              </a:defRPr>
            </a:pPr>
            <a:r>
              <a:t>• Training samples are generated from random +/- expression trees with parentheses; RL prompt pool filters invalid expressions.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Hypotheses and Reward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Reward Definitions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5440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9808" y="1417320"/>
          <a:ext cx="106984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06240"/>
                <a:gridCol w="3840480"/>
              </a:tblGrid>
              <a:tr h="120015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Hypothesis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Reward Formula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Auxiliary Signal Meaning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32133"/>
                          </a:solidFill>
                        </a:defRPr>
                      </a:pPr>
                      <a:r>
                        <a:t>H1: Binary-only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32133"/>
                          </a:solidFill>
                        </a:defRPr>
                      </a:pPr>
                      <a:r>
                        <a:t>R = 1.0 * binary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32133"/>
                          </a:solidFill>
                        </a:defRPr>
                      </a:pPr>
                      <a:r>
                        <a:t>No auxiliary term.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32133"/>
                          </a:solidFill>
                        </a:defRPr>
                      </a:pPr>
                      <a:r>
                        <a:t>H2: Binary + Process + Format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32133"/>
                          </a:solidFill>
                        </a:defRPr>
                      </a:pPr>
                      <a:r>
                        <a:t>R = 0.8 * binary + 0.15 * process + 0.05 * format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32133"/>
                          </a:solidFill>
                        </a:defRPr>
                      </a:pPr>
                      <a:r>
                        <a:t>Process trace rewards structured steps; format rewards template compliance.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32133"/>
                          </a:solidFill>
                        </a:defRPr>
                      </a:pPr>
                      <a:r>
                        <a:t>H3: Binary + Distance-Based Reward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32133"/>
                          </a:solidFill>
                        </a:defRPr>
                      </a:pPr>
                      <a:r>
                        <a:t>R = 0.9 * binary + 0.1 * exp(-|err| / 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32133"/>
                          </a:solidFill>
                        </a:defRPr>
                      </a:pPr>
                      <a:r>
                        <a:t>Distance reward = exp(-|err|/10); higher reward means closer answer.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Accuracy Across Hypotheses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Main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10972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accuracy_ema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70432"/>
            <a:ext cx="10826496" cy="43342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650992"/>
            <a:ext cx="10972800" cy="914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5815584"/>
            <a:ext cx="1053388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132133"/>
                </a:solidFill>
              </a:defRPr>
            </a:pPr>
            <a:r>
              <a:t>• Reach 0.30 accuracy: H1=23, H2=7, H3=7. Later-stage mean: H3(0.342) ≈ H1(0.340) &gt; H2(0.287).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H1: Binary Exact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Hypothesis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7406640" cy="5440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h1_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70432"/>
            <a:ext cx="7260336" cy="52943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097280"/>
            <a:ext cx="3337560" cy="5440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94776" y="1261872"/>
            <a:ext cx="2898648" cy="5111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b="1" sz="2400">
                <a:solidFill>
                  <a:srgbClr val="132133"/>
                </a:solidFill>
              </a:defRPr>
            </a:pPr>
            <a:r>
              <a:t>Interpretation</a:t>
            </a:r>
          </a:p>
          <a:p>
            <a:pPr>
              <a:spcAft>
                <a:spcPts val="500"/>
              </a:spcAft>
              <a:defRPr sz="1900">
                <a:solidFill>
                  <a:srgbClr val="132133"/>
                </a:solidFill>
              </a:defRPr>
            </a:pPr>
            <a:r>
              <a:t>• Reward: 1 if exact answer, else 0.</a:t>
            </a:r>
          </a:p>
          <a:p>
            <a:pPr>
              <a:spcAft>
                <a:spcPts val="500"/>
              </a:spcAft>
              <a:defRPr sz="1900">
                <a:solidFill>
                  <a:srgbClr val="132133"/>
                </a:solidFill>
              </a:defRPr>
            </a:pPr>
            <a:r>
              <a:t>• Reached 0.30 accuracy at step 23.</a:t>
            </a:r>
          </a:p>
          <a:p>
            <a:pPr>
              <a:spcAft>
                <a:spcPts val="500"/>
              </a:spcAft>
              <a:defRPr sz="1900">
                <a:solidFill>
                  <a:srgbClr val="132133"/>
                </a:solidFill>
              </a:defRPr>
            </a:pPr>
            <a:r>
              <a:t>• Sparse but fully aligned objective.</a:t>
            </a:r>
          </a:p>
          <a:p>
            <a:pPr>
              <a:spcAft>
                <a:spcPts val="500"/>
              </a:spcAft>
              <a:defRPr sz="1900">
                <a:solidFill>
                  <a:srgbClr val="132133"/>
                </a:solidFill>
              </a:defRPr>
            </a:pPr>
            <a:r>
              <a:t>• Late-stage mean accuracy: 0.340.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H2: Binary + Process +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Hypothesis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6903720" cy="5440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h2_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70432"/>
            <a:ext cx="6757416" cy="52943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79" y="1097280"/>
            <a:ext cx="3886200" cy="2423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h2_aux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1170432"/>
            <a:ext cx="3739896" cy="2276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3493008"/>
            <a:ext cx="3886200" cy="3154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46135" y="3657600"/>
            <a:ext cx="344728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132133"/>
                </a:solidFill>
              </a:defRPr>
            </a:pPr>
            <a:r>
              <a:t>Aux Learning + Influence</a:t>
            </a:r>
          </a:p>
          <a:p>
            <a:pPr>
              <a:spcAft>
                <a:spcPts val="500"/>
              </a:spcAft>
              <a:defRPr sz="1500">
                <a:solidFill>
                  <a:srgbClr val="132133"/>
                </a:solidFill>
              </a:defRPr>
            </a:pPr>
            <a:r>
              <a:t>• Reward mix: 0.8 binary + 0.15 process + 0.05 format.</a:t>
            </a:r>
          </a:p>
          <a:p>
            <a:pPr>
              <a:spcAft>
                <a:spcPts val="500"/>
              </a:spcAft>
              <a:defRPr sz="1500">
                <a:solidFill>
                  <a:srgbClr val="132133"/>
                </a:solidFill>
              </a:defRPr>
            </a:pPr>
            <a:r>
              <a:t>• Right panel is an auxiliary reward trend, not optimization loss.</a:t>
            </a:r>
          </a:p>
          <a:p>
            <a:pPr>
              <a:spcAft>
                <a:spcPts val="500"/>
              </a:spcAft>
              <a:defRPr sz="1500">
                <a:solidFill>
                  <a:srgbClr val="132133"/>
                </a:solidFill>
              </a:defRPr>
            </a:pPr>
            <a:r>
              <a:t>• Aux signals rise strongly: process 0.591 -&gt; 0.890, format 0.729 -&gt; 1.000.</a:t>
            </a:r>
          </a:p>
          <a:p>
            <a:pPr>
              <a:spcAft>
                <a:spcPts val="500"/>
              </a:spcAft>
              <a:defRPr sz="1500">
                <a:solidFill>
                  <a:srgbClr val="132133"/>
                </a:solidFill>
              </a:defRPr>
            </a:pPr>
            <a:r>
              <a:t>• Accuracy outcome: late mean 0.287 &lt; H1 0.340 and H3 0.342.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H3: Binary + Distance-Based Reward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Hypothesis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6903720" cy="5440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h3_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70432"/>
            <a:ext cx="6757416" cy="52943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26679" y="1097280"/>
            <a:ext cx="3886200" cy="2423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h3_aux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1170432"/>
            <a:ext cx="3739896" cy="2276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3493008"/>
            <a:ext cx="3886200" cy="3154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46135" y="3657600"/>
            <a:ext cx="3447288" cy="2825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b="1" sz="1800">
                <a:solidFill>
                  <a:srgbClr val="132133"/>
                </a:solidFill>
              </a:defRPr>
            </a:pPr>
            <a:r>
              <a:t>Core Definition</a:t>
            </a:r>
          </a:p>
          <a:p>
            <a:pPr>
              <a:spcAft>
                <a:spcPts val="500"/>
              </a:spcAft>
              <a:defRPr sz="1500">
                <a:solidFill>
                  <a:srgbClr val="132133"/>
                </a:solidFill>
              </a:defRPr>
            </a:pPr>
            <a:r>
              <a:t>• Reward mix: 0.9 binary + 0.1 distance-based reward.</a:t>
            </a:r>
          </a:p>
          <a:p>
            <a:pPr>
              <a:spcAft>
                <a:spcPts val="500"/>
              </a:spcAft>
              <a:defRPr sz="1500">
                <a:solidFill>
                  <a:srgbClr val="132133"/>
                </a:solidFill>
              </a:defRPr>
            </a:pPr>
            <a:r>
              <a:t>• Distance-based reward = exp(-|predicted final - true final| / 10): higher is better (closer answer).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Prompt-Response Behavior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H1 / H2 / H3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10972800" cy="5440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prompt_prob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170432"/>
            <a:ext cx="10826496" cy="5294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32133"/>
                </a:solidFill>
              </a:defRPr>
            </a:pPr>
            <a:r>
              <a:t>Final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966960" y="25603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6377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41248"/>
            <a:ext cx="1106424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972800" cy="5212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353312"/>
            <a:ext cx="10533888" cy="4882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b="1" sz="2800">
                <a:solidFill>
                  <a:srgbClr val="132133"/>
                </a:solidFill>
              </a:defRPr>
            </a:pPr>
            <a:r>
              <a:t>Takeaways</a:t>
            </a:r>
          </a:p>
          <a:p>
            <a:pPr>
              <a:spcAft>
                <a:spcPts val="500"/>
              </a:spcAft>
              <a:defRPr sz="2300">
                <a:solidFill>
                  <a:srgbClr val="132133"/>
                </a:solidFill>
              </a:defRPr>
            </a:pPr>
            <a:r>
              <a:t>• H1: slow but cleanly aligned to final accuracy.</a:t>
            </a:r>
          </a:p>
          <a:p>
            <a:pPr>
              <a:spcAft>
                <a:spcPts val="500"/>
              </a:spcAft>
              <a:defRPr sz="2300">
                <a:solidFill>
                  <a:srgbClr val="132133"/>
                </a:solidFill>
              </a:defRPr>
            </a:pPr>
            <a:r>
              <a:t>• H2: auxiliary rewards are learned, but final accuracy impact is negative in this setup.</a:t>
            </a:r>
          </a:p>
          <a:p>
            <a:pPr>
              <a:spcAft>
                <a:spcPts val="500"/>
              </a:spcAft>
              <a:defRPr sz="2300">
                <a:solidFill>
                  <a:srgbClr val="132133"/>
                </a:solidFill>
              </a:defRPr>
            </a:pPr>
            <a:r>
              <a:t>• H3: distance-based reward is learned and gives a positive final-accuracy lift over H2.</a:t>
            </a:r>
          </a:p>
          <a:p>
            <a:pPr>
              <a:spcAft>
                <a:spcPts val="500"/>
              </a:spcAft>
              <a:defRPr sz="2300">
                <a:solidFill>
                  <a:srgbClr val="132133"/>
                </a:solidFill>
              </a:defRPr>
            </a:pPr>
            <a:r>
              <a:t>• Convergence bands remain relatively close overall, suggesting model capacity remains a limiting factor.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